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057" autoAdjust="0"/>
  </p:normalViewPr>
  <p:slideViewPr>
    <p:cSldViewPr>
      <p:cViewPr varScale="1">
        <p:scale>
          <a:sx n="86" d="100"/>
          <a:sy n="86" d="100"/>
        </p:scale>
        <p:origin x="420" y="5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E9621-FF19-4578-8AF6-514C651EE762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C0D93-1F25-4B17-B321-0C02F30DA52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4358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C0D93-1F25-4B17-B321-0C02F30DA52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7416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43C0D93-1F25-4B17-B321-0C02F30DA52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72581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74930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1953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07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2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2621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8654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06196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15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45754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1464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7141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BFBCA-C722-400C-AAF1-7285129D4BAB}" type="datetimeFigureOut">
              <a:rPr lang="zh-CN" altLang="en-US" smtClean="0"/>
              <a:t>2024/4/27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29BADE-A105-4534-A86E-346FDE790F9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8720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6.wmf"/><Relationship Id="rId3" Type="http://schemas.openxmlformats.org/officeDocument/2006/relationships/image" Target="../media/image1.wmf"/><Relationship Id="rId7" Type="http://schemas.openxmlformats.org/officeDocument/2006/relationships/image" Target="../media/image3.w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8.png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5.emf"/><Relationship Id="rId5" Type="http://schemas.openxmlformats.org/officeDocument/2006/relationships/image" Target="../media/image2.wmf"/><Relationship Id="rId15" Type="http://schemas.openxmlformats.org/officeDocument/2006/relationships/image" Target="../media/image7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4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9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0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11560" y="260649"/>
            <a:ext cx="7772400" cy="648072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6.6</a:t>
            </a:r>
            <a:r>
              <a:rPr lang="zh-CN" altLang="en-US" b="1" dirty="0">
                <a:solidFill>
                  <a:srgbClr val="C00000"/>
                </a:solidFill>
              </a:rPr>
              <a:t> 应力与应变的测量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59632" y="1268760"/>
            <a:ext cx="7056784" cy="3240360"/>
          </a:xfrm>
        </p:spPr>
        <p:txBody>
          <a:bodyPr>
            <a:normAutofit fontScale="25000" lnSpcReduction="20000"/>
          </a:bodyPr>
          <a:lstStyle/>
          <a:p>
            <a:pPr algn="just">
              <a:lnSpc>
                <a:spcPct val="170000"/>
              </a:lnSpc>
            </a:pPr>
            <a:r>
              <a:rPr lang="zh-CN" altLang="en-US" sz="12800" b="1" dirty="0">
                <a:solidFill>
                  <a:srgbClr val="0000CC"/>
                </a:solidFill>
              </a:rPr>
              <a:t>一、</a:t>
            </a:r>
            <a:r>
              <a:rPr lang="zh-CN" altLang="zh-CN" sz="12800" b="1" dirty="0">
                <a:solidFill>
                  <a:srgbClr val="0000CC"/>
                </a:solidFill>
              </a:rPr>
              <a:t>单向应力测量</a:t>
            </a:r>
            <a:endParaRPr lang="en-US" altLang="zh-CN" sz="12800" b="1" dirty="0">
              <a:solidFill>
                <a:srgbClr val="0000CC"/>
              </a:solidFill>
            </a:endParaRPr>
          </a:p>
          <a:p>
            <a:pPr lvl="1" algn="just">
              <a:lnSpc>
                <a:spcPct val="170000"/>
              </a:lnSpc>
            </a:pPr>
            <a:r>
              <a:rPr lang="zh-CN" altLang="en-US" sz="3200" dirty="0">
                <a:solidFill>
                  <a:schemeClr val="tx1"/>
                </a:solidFill>
              </a:rPr>
              <a:t>                   </a:t>
            </a:r>
            <a:r>
              <a:rPr lang="zh-CN" altLang="en-US" sz="12800" dirty="0">
                <a:solidFill>
                  <a:schemeClr val="tx1"/>
                </a:solidFill>
              </a:rPr>
              <a:t>拉伸、弯矩、扭矩</a:t>
            </a:r>
            <a:endParaRPr lang="en-US" altLang="zh-CN" sz="12800" dirty="0">
              <a:solidFill>
                <a:schemeClr val="tx1"/>
              </a:solidFill>
            </a:endParaRPr>
          </a:p>
          <a:p>
            <a:pPr algn="just">
              <a:lnSpc>
                <a:spcPct val="170000"/>
              </a:lnSpc>
            </a:pPr>
            <a:r>
              <a:rPr lang="zh-CN" altLang="en-US" sz="12800" b="1" dirty="0">
                <a:solidFill>
                  <a:srgbClr val="0000CC"/>
                </a:solidFill>
              </a:rPr>
              <a:t>二、</a:t>
            </a:r>
            <a:r>
              <a:rPr lang="zh-CN" altLang="zh-CN" sz="12800" b="1" dirty="0">
                <a:solidFill>
                  <a:srgbClr val="0000CC"/>
                </a:solidFill>
              </a:rPr>
              <a:t>平面应力测量</a:t>
            </a:r>
            <a:endParaRPr lang="en-US" altLang="zh-CN" sz="12800" b="1" dirty="0">
              <a:solidFill>
                <a:srgbClr val="0000CC"/>
              </a:solidFill>
            </a:endParaRPr>
          </a:p>
          <a:p>
            <a:pPr marL="971550" lvl="1" indent="-51435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zh-CN" sz="12800" dirty="0">
                <a:solidFill>
                  <a:schemeClr val="tx1"/>
                </a:solidFill>
              </a:rPr>
              <a:t>主应力方向已知</a:t>
            </a:r>
            <a:endParaRPr lang="en-US" altLang="zh-CN" sz="12800" dirty="0">
              <a:solidFill>
                <a:schemeClr val="tx1"/>
              </a:solidFill>
            </a:endParaRPr>
          </a:p>
          <a:p>
            <a:pPr marL="971550" lvl="1" indent="-514350" algn="just">
              <a:lnSpc>
                <a:spcPct val="170000"/>
              </a:lnSpc>
              <a:buFont typeface="+mj-lt"/>
              <a:buAutoNum type="arabicPeriod"/>
            </a:pPr>
            <a:r>
              <a:rPr lang="zh-CN" altLang="zh-CN" sz="12800" dirty="0">
                <a:solidFill>
                  <a:schemeClr val="tx1"/>
                </a:solidFill>
              </a:rPr>
              <a:t>主应力方向</a:t>
            </a:r>
            <a:r>
              <a:rPr lang="zh-CN" altLang="en-US" sz="12800" dirty="0">
                <a:solidFill>
                  <a:schemeClr val="tx1"/>
                </a:solidFill>
              </a:rPr>
              <a:t>未</a:t>
            </a:r>
            <a:r>
              <a:rPr lang="zh-CN" altLang="zh-CN" sz="12800" dirty="0">
                <a:solidFill>
                  <a:schemeClr val="tx1"/>
                </a:solidFill>
              </a:rPr>
              <a:t>知</a:t>
            </a:r>
          </a:p>
          <a:p>
            <a:pPr lvl="0"/>
            <a:endParaRPr lang="zh-CN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863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528" y="116632"/>
            <a:ext cx="8229600" cy="706090"/>
          </a:xfrm>
        </p:spPr>
        <p:txBody>
          <a:bodyPr>
            <a:normAutofit fontScale="90000"/>
          </a:bodyPr>
          <a:lstStyle/>
          <a:p>
            <a:r>
              <a:rPr lang="en-US" altLang="zh-CN" b="1" dirty="0">
                <a:solidFill>
                  <a:srgbClr val="C00000"/>
                </a:solidFill>
              </a:rPr>
              <a:t>6.6</a:t>
            </a:r>
            <a:r>
              <a:rPr lang="zh-CN" altLang="en-US" b="1" dirty="0">
                <a:solidFill>
                  <a:srgbClr val="C00000"/>
                </a:solidFill>
              </a:rPr>
              <a:t> 应力与应变的测量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6298132"/>
              </p:ext>
            </p:extLst>
          </p:nvPr>
        </p:nvGraphicFramePr>
        <p:xfrm>
          <a:off x="755576" y="980728"/>
          <a:ext cx="4483445" cy="100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145960" imgH="482400" progId="Equation.DSMT4">
                  <p:embed/>
                </p:oleObj>
              </mc:Choice>
              <mc:Fallback>
                <p:oleObj name="Equation" r:id="rId2" imgW="214596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55576" y="980728"/>
                        <a:ext cx="4483445" cy="100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86182516"/>
              </p:ext>
            </p:extLst>
          </p:nvPr>
        </p:nvGraphicFramePr>
        <p:xfrm>
          <a:off x="755576" y="2204864"/>
          <a:ext cx="4368858" cy="9673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393480" progId="Equation.DSMT4">
                  <p:embed/>
                </p:oleObj>
              </mc:Choice>
              <mc:Fallback>
                <p:oleObj name="Equation" r:id="rId4" imgW="1777680" imgH="39348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755576" y="2204864"/>
                        <a:ext cx="4368858" cy="9673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64647744"/>
              </p:ext>
            </p:extLst>
          </p:nvPr>
        </p:nvGraphicFramePr>
        <p:xfrm>
          <a:off x="2287507" y="3898672"/>
          <a:ext cx="1304995" cy="4266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94870" imgH="164957" progId="Equation.DSMT4">
                  <p:embed/>
                </p:oleObj>
              </mc:Choice>
              <mc:Fallback>
                <p:oleObj name="Equation" r:id="rId6" imgW="494870" imgH="164957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7507" y="3898672"/>
                        <a:ext cx="1304995" cy="4266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21467796"/>
              </p:ext>
            </p:extLst>
          </p:nvPr>
        </p:nvGraphicFramePr>
        <p:xfrm>
          <a:off x="5868144" y="3638103"/>
          <a:ext cx="2787408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8" imgW="1445319" imgH="557712" progId="Visio.Drawing.11">
                  <p:embed/>
                </p:oleObj>
              </mc:Choice>
              <mc:Fallback>
                <p:oleObj name="Visio" r:id="rId8" imgW="1445319" imgH="557712" progId="Visio.Drawing.11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8144" y="3638103"/>
                        <a:ext cx="2787408" cy="10801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0" name="对象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55327"/>
              </p:ext>
            </p:extLst>
          </p:nvPr>
        </p:nvGraphicFramePr>
        <p:xfrm>
          <a:off x="6041746" y="5773820"/>
          <a:ext cx="2913813" cy="1080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10" imgW="1438785" imgH="532579" progId="Visio.Drawing.11">
                  <p:embed/>
                </p:oleObj>
              </mc:Choice>
              <mc:Fallback>
                <p:oleObj name="Visio" r:id="rId10" imgW="1438785" imgH="532579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1746" y="5773820"/>
                        <a:ext cx="2913813" cy="10801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12" name="对象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01085581"/>
              </p:ext>
            </p:extLst>
          </p:nvPr>
        </p:nvGraphicFramePr>
        <p:xfrm>
          <a:off x="2054311" y="6294078"/>
          <a:ext cx="1739900" cy="53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660240" imgH="203040" progId="Equation.DSMT4">
                  <p:embed/>
                </p:oleObj>
              </mc:Choice>
              <mc:Fallback>
                <p:oleObj name="Equation" r:id="rId12" imgW="66024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4311" y="6294078"/>
                        <a:ext cx="1739900" cy="5365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矩形 12"/>
          <p:cNvSpPr/>
          <p:nvPr/>
        </p:nvSpPr>
        <p:spPr>
          <a:xfrm>
            <a:off x="431221" y="4352147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2. </a:t>
            </a:r>
            <a:r>
              <a:rPr lang="zh-CN" altLang="en-US" sz="2800" b="1" dirty="0">
                <a:solidFill>
                  <a:srgbClr val="0000CC"/>
                </a:solidFill>
              </a:rPr>
              <a:t>弯矩：</a:t>
            </a:r>
            <a:endParaRPr lang="en-US" altLang="zh-CN" sz="2800" b="1" dirty="0">
              <a:solidFill>
                <a:srgbClr val="0000CC"/>
              </a:solidFill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31221" y="3397488"/>
            <a:ext cx="126669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800" b="1" dirty="0">
                <a:solidFill>
                  <a:srgbClr val="0000CC"/>
                </a:solidFill>
              </a:rPr>
              <a:t>1. </a:t>
            </a:r>
            <a:r>
              <a:rPr lang="zh-CN" altLang="en-US" sz="2800" b="1" dirty="0">
                <a:solidFill>
                  <a:srgbClr val="0000CC"/>
                </a:solidFill>
              </a:rPr>
              <a:t>拉伸</a:t>
            </a:r>
          </a:p>
        </p:txBody>
      </p:sp>
      <p:sp>
        <p:nvSpPr>
          <p:cNvPr id="16" name="矩形 15"/>
          <p:cNvSpPr/>
          <p:nvPr/>
        </p:nvSpPr>
        <p:spPr>
          <a:xfrm>
            <a:off x="931640" y="4930557"/>
            <a:ext cx="5109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400" dirty="0"/>
              <a:t>构件上、下表面正应力的绝对值最大</a:t>
            </a:r>
            <a:endParaRPr lang="zh-CN" altLang="en-US" sz="2400" dirty="0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9970972"/>
              </p:ext>
            </p:extLst>
          </p:nvPr>
        </p:nvGraphicFramePr>
        <p:xfrm>
          <a:off x="2066960" y="5547875"/>
          <a:ext cx="1706562" cy="590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647640" imgH="228600" progId="Equation.DSMT4">
                  <p:embed/>
                </p:oleObj>
              </mc:Choice>
              <mc:Fallback>
                <p:oleObj name="Equation" r:id="rId14" imgW="647640" imgH="228600" progId="Equation.DSMT4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6960" y="5547875"/>
                        <a:ext cx="1706562" cy="590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圆角矩形标注 13"/>
          <p:cNvSpPr/>
          <p:nvPr/>
        </p:nvSpPr>
        <p:spPr>
          <a:xfrm>
            <a:off x="3750601" y="6277040"/>
            <a:ext cx="1901519" cy="432048"/>
          </a:xfrm>
          <a:prstGeom prst="wedgeRoundRectCallout">
            <a:avLst>
              <a:gd name="adj1" fmla="val -82026"/>
              <a:gd name="adj2" fmla="val -29519"/>
              <a:gd name="adj3" fmla="val 16667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/>
              <a:t>抗弯截面模量</a:t>
            </a:r>
          </a:p>
        </p:txBody>
      </p:sp>
      <p:graphicFrame>
        <p:nvGraphicFramePr>
          <p:cNvPr id="19" name="Object 40"/>
          <p:cNvGraphicFramePr>
            <a:graphicFrameLocks noGrp="1" noChangeAspect="1"/>
          </p:cNvGraphicFramePr>
          <p:nvPr>
            <p:ph sz="quarter" idx="4294967295"/>
            <p:extLst>
              <p:ext uri="{D42A27DB-BD31-4B8C-83A1-F6EECF244321}">
                <p14:modId xmlns:p14="http://schemas.microsoft.com/office/powerpoint/2010/main" val="2262642297"/>
              </p:ext>
            </p:extLst>
          </p:nvPr>
        </p:nvGraphicFramePr>
        <p:xfrm>
          <a:off x="6040731" y="799794"/>
          <a:ext cx="2645866" cy="25793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MP 图像" r:id="rId16" imgW="0" imgH="0" progId="Paint.Picture">
                  <p:embed/>
                </p:oleObj>
              </mc:Choice>
              <mc:Fallback>
                <p:oleObj name="BMP 图像" r:id="rId16" imgW="0" imgH="0" progId="Paint.Picture">
                  <p:embed/>
                  <p:pic>
                    <p:nvPicPr>
                      <p:cNvPr id="8207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0731" y="799794"/>
                        <a:ext cx="2645866" cy="25793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0681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/>
      <p:bldP spid="16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32" y="1196752"/>
            <a:ext cx="8453824" cy="515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/>
        </p:nvSpPr>
        <p:spPr>
          <a:xfrm>
            <a:off x="251520" y="188640"/>
            <a:ext cx="141897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>
                <a:solidFill>
                  <a:srgbClr val="0000CC"/>
                </a:solidFill>
              </a:rPr>
              <a:t>1. </a:t>
            </a:r>
            <a:r>
              <a:rPr lang="zh-CN" altLang="en-US" sz="3200" b="1">
                <a:solidFill>
                  <a:srgbClr val="0000CC"/>
                </a:solidFill>
              </a:rPr>
              <a:t>拉伸</a:t>
            </a: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1526980"/>
              </p:ext>
            </p:extLst>
          </p:nvPr>
        </p:nvGraphicFramePr>
        <p:xfrm>
          <a:off x="4473694" y="116729"/>
          <a:ext cx="4368800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680" imgH="393480" progId="Equation.DSMT4">
                  <p:embed/>
                </p:oleObj>
              </mc:Choice>
              <mc:Fallback>
                <p:oleObj name="Equation" r:id="rId4" imgW="1777680" imgH="393480" progId="Equation.DSMT4">
                  <p:embed/>
                  <p:pic>
                    <p:nvPicPr>
                      <p:cNvPr id="0" name="对象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3694" y="116729"/>
                        <a:ext cx="4368800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/>
          <p:cNvSpPr txBox="1"/>
          <p:nvPr/>
        </p:nvSpPr>
        <p:spPr>
          <a:xfrm>
            <a:off x="6732240" y="3284984"/>
            <a:ext cx="223224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消除温度的影响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61960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202" y="1484784"/>
            <a:ext cx="8305816" cy="3240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/>
        </p:nvSpPr>
        <p:spPr>
          <a:xfrm>
            <a:off x="323528" y="332656"/>
            <a:ext cx="183095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solidFill>
                  <a:srgbClr val="0000CC"/>
                </a:solidFill>
              </a:rPr>
              <a:t>2. </a:t>
            </a:r>
            <a:r>
              <a:rPr lang="zh-CN" altLang="en-US" sz="3200" b="1" dirty="0">
                <a:solidFill>
                  <a:srgbClr val="0000CC"/>
                </a:solidFill>
              </a:rPr>
              <a:t>弯矩：</a:t>
            </a:r>
            <a:endParaRPr lang="en-US" altLang="zh-CN" sz="3200" b="1" dirty="0">
              <a:solidFill>
                <a:srgbClr val="0000CC"/>
              </a:solidFill>
            </a:endParaRPr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913383"/>
              </p:ext>
            </p:extLst>
          </p:nvPr>
        </p:nvGraphicFramePr>
        <p:xfrm>
          <a:off x="3995738" y="228600"/>
          <a:ext cx="4368800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77229" imgH="393529" progId="Equation.DSMT4">
                  <p:embed/>
                </p:oleObj>
              </mc:Choice>
              <mc:Fallback>
                <p:oleObj name="Equation" r:id="rId4" imgW="1777229" imgH="393529" progId="Equation.DSMT4">
                  <p:embed/>
                  <p:pic>
                    <p:nvPicPr>
                      <p:cNvPr id="0" name="对象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228600"/>
                        <a:ext cx="4368800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7020272" y="2060848"/>
            <a:ext cx="172819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消除温度与拉伸力的影响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012650" y="3501008"/>
            <a:ext cx="1728192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dirty="0"/>
              <a:t>消除温度与拉伸力的影响</a:t>
            </a:r>
          </a:p>
        </p:txBody>
      </p:sp>
    </p:spTree>
    <p:extLst>
      <p:ext uri="{BB962C8B-B14F-4D97-AF65-F5344CB8AC3E}">
        <p14:creationId xmlns:p14="http://schemas.microsoft.com/office/powerpoint/2010/main" val="758067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CC6AD7-1EDA-F193-32C2-D366DC41B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539453-F79D-F953-2AF5-A119D9902D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作业</a:t>
            </a:r>
            <a:r>
              <a:rPr lang="en-US" altLang="zh-CN"/>
              <a:t>6.9, 6.11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07271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2592</TotalTime>
  <Words>83</Words>
  <Application>Microsoft Office PowerPoint</Application>
  <PresentationFormat>全屏显示(4:3)</PresentationFormat>
  <Paragraphs>19</Paragraphs>
  <Slides>5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2" baseType="lpstr">
      <vt:lpstr>等线</vt:lpstr>
      <vt:lpstr>Arial</vt:lpstr>
      <vt:lpstr>Calibri</vt:lpstr>
      <vt:lpstr>Office 主题​​</vt:lpstr>
      <vt:lpstr>Equation</vt:lpstr>
      <vt:lpstr>Visio</vt:lpstr>
      <vt:lpstr>BMP 图像</vt:lpstr>
      <vt:lpstr>6.6 应力与应变的测量</vt:lpstr>
      <vt:lpstr>6.6 应力与应变的测量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serra</dc:creator>
  <cp:lastModifiedBy>8615099959005</cp:lastModifiedBy>
  <cp:revision>47</cp:revision>
  <dcterms:created xsi:type="dcterms:W3CDTF">2017-04-14T01:09:22Z</dcterms:created>
  <dcterms:modified xsi:type="dcterms:W3CDTF">2024-04-27T02:12:43Z</dcterms:modified>
</cp:coreProperties>
</file>